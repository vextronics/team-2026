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73" r:id="rId5"/>
    <p:sldId id="297" r:id="rId6"/>
    <p:sldId id="294" r:id="rId7"/>
    <p:sldId id="304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B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8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06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2/2/2026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24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8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5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6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9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2/2/2026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98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05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4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082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84944A-8803-462C-84C5-4576C56A7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457199"/>
            <a:ext cx="3618827" cy="4822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2723" y="850791"/>
            <a:ext cx="3202016" cy="4198288"/>
          </a:xfrm>
        </p:spPr>
        <p:txBody>
          <a:bodyPr anchor="ctr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VeXtronics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07F3B49-8C20-42F5-831D-59306D05F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9870" y="5367338"/>
            <a:ext cx="3618828" cy="9895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5367" y="5545331"/>
            <a:ext cx="3349372" cy="649222"/>
          </a:xfrm>
          <a:noFill/>
        </p:spPr>
        <p:txBody>
          <a:bodyPr anchor="ctr">
            <a:normAutofit fontScale="92500" lnSpcReduction="20000"/>
          </a:bodyPr>
          <a:lstStyle/>
          <a:p>
            <a:pPr algn="ctr"/>
            <a:r>
              <a:rPr lang="en-US" sz="2000" b="1" i="0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Agricultural &amp; Outdoor Robotics</a:t>
            </a:r>
            <a:endParaRPr lang="en-US" sz="1800" dirty="0">
              <a:solidFill>
                <a:srgbClr val="FFFFFF">
                  <a:alpha val="75000"/>
                </a:srgb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8517E-B95B-42B6-BE9D-11EFE8955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45" y="457714"/>
            <a:ext cx="7462127" cy="481029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70ADC1-85A9-4B28-8334-3D53C0D9B37D}"/>
              </a:ext>
            </a:extLst>
          </p:cNvPr>
          <p:cNvSpPr txBox="1">
            <a:spLocks/>
          </p:cNvSpPr>
          <p:nvPr/>
        </p:nvSpPr>
        <p:spPr>
          <a:xfrm>
            <a:off x="-111244" y="5364817"/>
            <a:ext cx="6469811" cy="133034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l"/>
            <a:endParaRPr lang="en-US" dirty="0">
              <a:solidFill>
                <a:schemeClr val="tx1"/>
              </a:solidFill>
            </a:endParaRP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Name:	Erik Vermeer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Project: 	Robotic Planting Solutions</a:t>
            </a: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Contact:	erik@vextronics.nl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003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F6E1-1F49-4DB0-9355-C6DF2816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Autonomous Farming?</a:t>
            </a:r>
            <a:br>
              <a:rPr lang="en-NL" dirty="0"/>
            </a:b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A932-B31B-40F3-B354-A9EA339CB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63108"/>
            <a:ext cx="5400013" cy="38461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Concept:</a:t>
            </a:r>
          </a:p>
          <a:p>
            <a:r>
              <a:rPr lang="en-US" b="1" u="sng" dirty="0"/>
              <a:t>Using autonomous robots to perform farming actions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Opens up new possibilities:</a:t>
            </a:r>
          </a:p>
          <a:p>
            <a:r>
              <a:rPr lang="en-US" dirty="0"/>
              <a:t>More precision</a:t>
            </a:r>
          </a:p>
          <a:p>
            <a:r>
              <a:rPr lang="en-US" dirty="0"/>
              <a:t>No more human errors</a:t>
            </a:r>
          </a:p>
          <a:p>
            <a:r>
              <a:rPr lang="en-US" dirty="0"/>
              <a:t>Allows for higher speeds</a:t>
            </a:r>
          </a:p>
          <a:p>
            <a:endParaRPr lang="en-NL" dirty="0"/>
          </a:p>
        </p:txBody>
      </p:sp>
      <p:pic>
        <p:nvPicPr>
          <p:cNvPr id="4" name="Picture 3" descr="A blue rectangle with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3375C5F5-08AF-4F06-AD43-FBA4602E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307" y="882650"/>
            <a:ext cx="1146628" cy="781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0AFA5F-D187-4D28-B619-C7BA2C3E199C}"/>
              </a:ext>
            </a:extLst>
          </p:cNvPr>
          <p:cNvSpPr txBox="1"/>
          <p:nvPr/>
        </p:nvSpPr>
        <p:spPr>
          <a:xfrm>
            <a:off x="581192" y="5894234"/>
            <a:ext cx="111690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dirty="0"/>
              <a:t>Your challenge: Use robotics &amp; AI to optimize planting of corn seeds.</a:t>
            </a:r>
          </a:p>
        </p:txBody>
      </p:sp>
      <p:sp>
        <p:nvSpPr>
          <p:cNvPr id="5" name="AutoShape 2" descr="Foto">
            <a:extLst>
              <a:ext uri="{FF2B5EF4-FFF2-40B4-BE49-F238E27FC236}">
                <a16:creationId xmlns:a16="http://schemas.microsoft.com/office/drawing/2014/main" id="{0833D83C-C7D2-466C-A893-D8F55F7EFE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FD79B7-2B90-4C66-A056-51F3C700F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239955"/>
            <a:ext cx="5597158" cy="326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10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F6E1-1F49-4DB0-9355-C6DF2816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53334"/>
          </a:xfrm>
        </p:spPr>
        <p:txBody>
          <a:bodyPr/>
          <a:lstStyle/>
          <a:p>
            <a:r>
              <a:rPr lang="en-US" b="1" u="sng" dirty="0"/>
              <a:t>Theory</a:t>
            </a:r>
            <a:r>
              <a:rPr lang="en-US" u="sng" dirty="0"/>
              <a:t>:</a:t>
            </a:r>
            <a:r>
              <a:rPr lang="en-US" dirty="0"/>
              <a:t> 	Planting corn in A predefined alignment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A932-B31B-40F3-B354-A9EA339CB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622879"/>
            <a:ext cx="7454444" cy="2291623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7844A8-0AF3-4457-B7D9-6492A80AA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789968"/>
            <a:ext cx="4345967" cy="4647629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88BF39CF-27F1-4E6C-9C9F-5C5148D452D2}"/>
              </a:ext>
            </a:extLst>
          </p:cNvPr>
          <p:cNvSpPr/>
          <p:nvPr/>
        </p:nvSpPr>
        <p:spPr>
          <a:xfrm>
            <a:off x="2081349" y="4476910"/>
            <a:ext cx="805542" cy="1865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AD47AF-F8A0-47BE-954C-D397CF2D9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3355" y="1802422"/>
            <a:ext cx="5354058" cy="4727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9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F6E1-1F49-4DB0-9355-C6DF2816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Problem:</a:t>
            </a:r>
            <a:r>
              <a:rPr lang="en-US" dirty="0"/>
              <a:t> How to determine the average leave orientation?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A932-B31B-40F3-B354-A9EA339CB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553" y="2151777"/>
            <a:ext cx="7454444" cy="4408414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sz="1800" dirty="0"/>
              <a:t>Your mission:</a:t>
            </a:r>
          </a:p>
          <a:p>
            <a:pPr marL="0" indent="0">
              <a:buNone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Create good quality plant data of corn seedlings.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Feed into AI object detection models.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b="1" u="sng" dirty="0"/>
              <a:t>Determination of individual leave orientations.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Show statistical results over the field.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CC93C4-228D-438B-B1B9-2960ACAF2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813" y="2275733"/>
            <a:ext cx="5894412" cy="431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152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F6E1-1F49-4DB0-9355-C6DF28166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Determination of leave orientations using AI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2A932-B31B-40F3-B354-A9EA339CB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41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 we recognize the corn leave shapes using Semantic Segmentation?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calculate leave orientation and plant center from the leave shape?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ue rectangle with a white background&#10;&#10;Description automatically generated with low confidence">
            <a:extLst>
              <a:ext uri="{FF2B5EF4-FFF2-40B4-BE49-F238E27FC236}">
                <a16:creationId xmlns:a16="http://schemas.microsoft.com/office/drawing/2014/main" id="{3375C5F5-08AF-4F06-AD43-FBA4602E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923" y="858226"/>
            <a:ext cx="1146628" cy="7812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0AD079-741C-4519-9F1E-09F0D79F3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460" y="5010017"/>
            <a:ext cx="2257048" cy="16927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BBECB3-3C71-4A0B-8A17-F339B9702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453" y="2785626"/>
            <a:ext cx="3542083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276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spect">
      <a:dk1>
        <a:sysClr val="windowText" lastClr="000000"/>
      </a:dk1>
      <a:lt1>
        <a:sysClr val="window" lastClr="FFFFFF"/>
      </a:lt1>
      <a:dk2>
        <a:srgbClr val="585753"/>
      </a:dk2>
      <a:lt2>
        <a:srgbClr val="EBDDC3"/>
      </a:lt2>
      <a:accent1>
        <a:srgbClr val="71B9E4"/>
      </a:accent1>
      <a:accent2>
        <a:srgbClr val="E25D3C"/>
      </a:accent2>
      <a:accent3>
        <a:srgbClr val="BDB59D"/>
      </a:accent3>
      <a:accent4>
        <a:srgbClr val="A5AB81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5AA4DF8BF1CB4F9A8E38CE4331CF12" ma:contentTypeVersion="4" ma:contentTypeDescription="Create a new document." ma:contentTypeScope="" ma:versionID="1387bd0e64418dbd593764a7388a34fc">
  <xsd:schema xmlns:xsd="http://www.w3.org/2001/XMLSchema" xmlns:xs="http://www.w3.org/2001/XMLSchema" xmlns:p="http://schemas.microsoft.com/office/2006/metadata/properties" xmlns:ns2="b487dc8a-4f8b-4fe6-8b1c-4333a0c3a140" targetNamespace="http://schemas.microsoft.com/office/2006/metadata/properties" ma:root="true" ma:fieldsID="e9f75d10802eb97d54b1a9fb303bdb8e" ns2:_="">
    <xsd:import namespace="b487dc8a-4f8b-4fe6-8b1c-4333a0c3a1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87dc8a-4f8b-4fe6-8b1c-4333a0c3a1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BD2D995-20F0-4C14-BF62-1248AB4B484D}">
  <ds:schemaRefs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b487dc8a-4f8b-4fe6-8b1c-4333a0c3a140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B3242A4-1E6A-4E02-809C-4A24066EC0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EA051A-6B03-49E3-96CC-0C220FBEBB5A}">
  <ds:schemaRefs>
    <ds:schemaRef ds:uri="b487dc8a-4f8b-4fe6-8b1c-4333a0c3a14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{66A6BEE1-50CC-4C6E-9B44-A9ACE3C9A3AE}tf67061901_win32</Template>
  <TotalTime>0</TotalTime>
  <Words>151</Words>
  <Application>Microsoft Office PowerPoint</Application>
  <PresentationFormat>Widescreen</PresentationFormat>
  <Paragraphs>39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Calibri</vt:lpstr>
      <vt:lpstr>Franklin Gothic Book</vt:lpstr>
      <vt:lpstr>Franklin Gothic Demi</vt:lpstr>
      <vt:lpstr>Gill Sans MT</vt:lpstr>
      <vt:lpstr>Lato</vt:lpstr>
      <vt:lpstr>Wingdings</vt:lpstr>
      <vt:lpstr>Wingdings 2</vt:lpstr>
      <vt:lpstr>DividendVTI</vt:lpstr>
      <vt:lpstr>VeXtronics</vt:lpstr>
      <vt:lpstr>What is Autonomous Farming? </vt:lpstr>
      <vt:lpstr>Theory:  Planting corn in A predefined alignment</vt:lpstr>
      <vt:lpstr>Problem: How to determine the average leave orientation?</vt:lpstr>
      <vt:lpstr> Determination of leave orientations using AI techniques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Vextronics</dc:title>
  <dc:creator>Erik Vermeer</dc:creator>
  <cp:lastModifiedBy>Erik Vermeer</cp:lastModifiedBy>
  <cp:revision>16</cp:revision>
  <dcterms:created xsi:type="dcterms:W3CDTF">2022-08-29T08:14:54Z</dcterms:created>
  <dcterms:modified xsi:type="dcterms:W3CDTF">2026-02-03T08:09:19Z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0x010100CE5AA4DF8BF1CB4F9A8E38CE4331CF12</vt:lpwstr>
  </property>
</Properties>
</file>